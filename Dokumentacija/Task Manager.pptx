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Inter 2 Bold" panose="020B0604020202020204" charset="0"/>
      <p:regular r:id="rId13"/>
    </p:embeddedFont>
    <p:embeddedFont>
      <p:font typeface="Open Sans" panose="020B0604020202020204" charset="0"/>
      <p:regular r:id="rId14"/>
    </p:embeddedFont>
    <p:embeddedFont>
      <p:font typeface="Inter 1 Bold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Open Sa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9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60" r="-176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01086" y="7806449"/>
            <a:ext cx="14377458" cy="1120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6516" b="1" spc="2619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TASK MANAGER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04563" y="9645578"/>
            <a:ext cx="1196609" cy="19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Page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6261" y="3140975"/>
            <a:ext cx="9919450" cy="4573228"/>
          </a:xfrm>
          <a:custGeom>
            <a:avLst/>
            <a:gdLst/>
            <a:ahLst/>
            <a:cxnLst/>
            <a:rect l="l" t="t" r="r" b="b"/>
            <a:pathLst>
              <a:path w="9919450" h="4573228">
                <a:moveTo>
                  <a:pt x="0" y="0"/>
                </a:moveTo>
                <a:lnTo>
                  <a:pt x="9919450" y="0"/>
                </a:lnTo>
                <a:lnTo>
                  <a:pt x="9919450" y="4573228"/>
                </a:lnTo>
                <a:lnTo>
                  <a:pt x="0" y="45732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4" t="-25828" r="-1205" b="-261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52045" y="221910"/>
            <a:ext cx="496277" cy="496277"/>
          </a:xfrm>
          <a:custGeom>
            <a:avLst/>
            <a:gdLst/>
            <a:ahLst/>
            <a:cxnLst/>
            <a:rect l="l" t="t" r="r" b="b"/>
            <a:pathLst>
              <a:path w="496277" h="496277">
                <a:moveTo>
                  <a:pt x="0" y="0"/>
                </a:moveTo>
                <a:lnTo>
                  <a:pt x="496277" y="0"/>
                </a:lnTo>
                <a:lnTo>
                  <a:pt x="496277" y="496277"/>
                </a:lnTo>
                <a:lnTo>
                  <a:pt x="0" y="4962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604563" y="9645578"/>
            <a:ext cx="1196609" cy="19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Page |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62382" y="1968993"/>
            <a:ext cx="524733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925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UVOD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77791" y="3345424"/>
            <a:ext cx="6024600" cy="208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Kreirao sam Task Manager aplikaciju koja omogućava kreiranje, izmenu i brisanje zadataka koristeći ASP.NET Web API i Angular, sa bazom podataka odrađenom u Microsoft SQL Serveru-u.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77791" y="5561974"/>
            <a:ext cx="6016516" cy="271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Task Manager je aplikacija koja pomaže korisnicima da ostanu organizovani kroz jednostavno kreiranje i praćenje prioriteta zadataka. Projekat demonstrira uspešnu integraciju .NET ekosistema sa Angular frameworkom, uz fokus na čistu arhitekturu i upotrebljivost.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8034" y="450999"/>
            <a:ext cx="182777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Task manager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9763" y="9636053"/>
            <a:ext cx="2427115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Bogdan Bakić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2045" y="221910"/>
            <a:ext cx="2413759" cy="496277"/>
            <a:chOff x="0" y="0"/>
            <a:chExt cx="3218346" cy="6617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702" cy="661702"/>
            </a:xfrm>
            <a:custGeom>
              <a:avLst/>
              <a:gdLst/>
              <a:ahLst/>
              <a:cxnLst/>
              <a:rect l="l" t="t" r="r" b="b"/>
              <a:pathLst>
                <a:path w="661702" h="661702">
                  <a:moveTo>
                    <a:pt x="0" y="0"/>
                  </a:moveTo>
                  <a:lnTo>
                    <a:pt x="661702" y="0"/>
                  </a:lnTo>
                  <a:lnTo>
                    <a:pt x="661702" y="661702"/>
                  </a:lnTo>
                  <a:lnTo>
                    <a:pt x="0" y="661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781319" y="311801"/>
              <a:ext cx="2437027" cy="257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Task manager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9880625" y="4103221"/>
            <a:ext cx="7143750" cy="5310314"/>
          </a:xfrm>
          <a:custGeom>
            <a:avLst/>
            <a:gdLst/>
            <a:ahLst/>
            <a:cxnLst/>
            <a:rect l="l" t="t" r="r" b="b"/>
            <a:pathLst>
              <a:path w="7143750" h="5310314">
                <a:moveTo>
                  <a:pt x="0" y="0"/>
                </a:moveTo>
                <a:lnTo>
                  <a:pt x="7143750" y="0"/>
                </a:lnTo>
                <a:lnTo>
                  <a:pt x="7143750" y="5310314"/>
                </a:lnTo>
                <a:lnTo>
                  <a:pt x="0" y="53103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23192" y="1558540"/>
            <a:ext cx="3333750" cy="3333750"/>
          </a:xfrm>
          <a:custGeom>
            <a:avLst/>
            <a:gdLst/>
            <a:ahLst/>
            <a:cxnLst/>
            <a:rect l="l" t="t" r="r" b="b"/>
            <a:pathLst>
              <a:path w="3333750" h="3333750">
                <a:moveTo>
                  <a:pt x="0" y="0"/>
                </a:moveTo>
                <a:lnTo>
                  <a:pt x="3333750" y="0"/>
                </a:lnTo>
                <a:lnTo>
                  <a:pt x="3333750" y="3333750"/>
                </a:lnTo>
                <a:lnTo>
                  <a:pt x="0" y="3333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604563" y="9645578"/>
            <a:ext cx="119660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Page | 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1148" y="1699985"/>
            <a:ext cx="4708360" cy="20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Za poslovnu logiku i obradu podataka koristio sam ASP.NET Core Web API, prateći principe čiste arhitekture i Dependency Injection obrazac.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07537" y="5682865"/>
            <a:ext cx="726536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925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ARHITEKTURA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394698"/>
            <a:ext cx="6984358" cy="166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Komunikacija sa SQL Server bazom ostvarena je putem Entity Framework Core-a, dok je za testiranje i dokumentaciju endpoint-a integrisan Swagger UI.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06098" y="981075"/>
            <a:ext cx="6895452" cy="20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Tokom celog procesa razvoja koristio sam Git za praćenje verzija koda, čime sam osigurao stabilnost projekta i preglednu istoriju svih izmena na frontend i backend delu.</a:t>
            </a:r>
          </a:p>
          <a:p>
            <a:pPr algn="ctr">
              <a:lnSpc>
                <a:spcPts val="3365"/>
              </a:lnSpc>
              <a:spcBef>
                <a:spcPct val="0"/>
              </a:spcBef>
            </a:pPr>
            <a:endParaRPr lang="en-US" sz="2403" b="1">
              <a:solidFill>
                <a:srgbClr val="1F2020"/>
              </a:solidFill>
              <a:latin typeface="Inter 2 Bold"/>
              <a:ea typeface="Inter 2 Bold"/>
              <a:cs typeface="Inter 2 Bold"/>
              <a:sym typeface="Inter 2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39763" y="9636053"/>
            <a:ext cx="2427115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Bogdan Bakić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590741"/>
            <a:ext cx="6932863" cy="7073887"/>
            <a:chOff x="0" y="0"/>
            <a:chExt cx="9243817" cy="943184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660" b="660"/>
            <a:stretch>
              <a:fillRect/>
            </a:stretch>
          </p:blipFill>
          <p:spPr>
            <a:xfrm>
              <a:off x="0" y="0"/>
              <a:ext cx="9243817" cy="9431849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11451185" y="559583"/>
            <a:ext cx="5627621" cy="5731536"/>
          </a:xfrm>
          <a:custGeom>
            <a:avLst/>
            <a:gdLst/>
            <a:ahLst/>
            <a:cxnLst/>
            <a:rect l="l" t="t" r="r" b="b"/>
            <a:pathLst>
              <a:path w="5627621" h="5731536">
                <a:moveTo>
                  <a:pt x="0" y="0"/>
                </a:moveTo>
                <a:lnTo>
                  <a:pt x="5627621" y="0"/>
                </a:lnTo>
                <a:lnTo>
                  <a:pt x="5627621" y="5731537"/>
                </a:lnTo>
                <a:lnTo>
                  <a:pt x="0" y="5731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3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604563" y="9645578"/>
            <a:ext cx="119660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Page | 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1750" y="6326448"/>
            <a:ext cx="726536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925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ARHITEKTURA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52045" y="221910"/>
            <a:ext cx="2413759" cy="496277"/>
            <a:chOff x="0" y="0"/>
            <a:chExt cx="3218346" cy="66170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1702" cy="661702"/>
            </a:xfrm>
            <a:custGeom>
              <a:avLst/>
              <a:gdLst/>
              <a:ahLst/>
              <a:cxnLst/>
              <a:rect l="l" t="t" r="r" b="b"/>
              <a:pathLst>
                <a:path w="661702" h="661702">
                  <a:moveTo>
                    <a:pt x="0" y="0"/>
                  </a:moveTo>
                  <a:lnTo>
                    <a:pt x="661702" y="0"/>
                  </a:lnTo>
                  <a:lnTo>
                    <a:pt x="661702" y="661702"/>
                  </a:lnTo>
                  <a:lnTo>
                    <a:pt x="0" y="661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781319" y="311801"/>
              <a:ext cx="2437027" cy="257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Task manager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86936" y="854170"/>
            <a:ext cx="6445698" cy="166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 Za prikazivanje interfejsa i interakciju sa korisnikom koristio sam Angular (TypeScript), uz RxJS za upravljanje asinhronim pozivima.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01750" y="7595335"/>
            <a:ext cx="6445698" cy="166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Implementirane su reactive forms sa validacijom unosa u realnom vremenu (npr. obavezna polja, dužina teksta).</a:t>
            </a:r>
          </a:p>
          <a:p>
            <a:pPr algn="ctr">
              <a:lnSpc>
                <a:spcPts val="3365"/>
              </a:lnSpc>
              <a:spcBef>
                <a:spcPct val="0"/>
              </a:spcBef>
            </a:pPr>
            <a:endParaRPr lang="en-US" sz="2403" b="1">
              <a:solidFill>
                <a:srgbClr val="1F2020"/>
              </a:solidFill>
              <a:latin typeface="Inter 2 Bold"/>
              <a:ea typeface="Inter 2 Bold"/>
              <a:cs typeface="Inter 2 Bold"/>
              <a:sym typeface="Inter 2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52045" y="9815123"/>
            <a:ext cx="2427115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Bogdan Bakić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2045" y="221910"/>
            <a:ext cx="2413759" cy="496277"/>
            <a:chOff x="0" y="0"/>
            <a:chExt cx="3218346" cy="6617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702" cy="661702"/>
            </a:xfrm>
            <a:custGeom>
              <a:avLst/>
              <a:gdLst/>
              <a:ahLst/>
              <a:cxnLst/>
              <a:rect l="l" t="t" r="r" b="b"/>
              <a:pathLst>
                <a:path w="661702" h="661702">
                  <a:moveTo>
                    <a:pt x="0" y="0"/>
                  </a:moveTo>
                  <a:lnTo>
                    <a:pt x="661702" y="0"/>
                  </a:lnTo>
                  <a:lnTo>
                    <a:pt x="661702" y="661702"/>
                  </a:lnTo>
                  <a:lnTo>
                    <a:pt x="0" y="661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781319" y="311801"/>
              <a:ext cx="2437027" cy="257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Task manager</a:t>
              </a:r>
            </a:p>
          </p:txBody>
        </p:sp>
      </p:grpSp>
      <p:pic>
        <p:nvPicPr>
          <p:cNvPr id="5" name="Picture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2952750" y="1806207"/>
            <a:ext cx="12382500" cy="6965156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457974" y="544513"/>
            <a:ext cx="7372051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925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DEMO BACK END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2045" y="9815123"/>
            <a:ext cx="2427115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Bogdan Bakić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604563" y="9645578"/>
            <a:ext cx="119660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Page | 05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2045" y="221910"/>
            <a:ext cx="2413759" cy="496277"/>
            <a:chOff x="0" y="0"/>
            <a:chExt cx="3218346" cy="6617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702" cy="661702"/>
            </a:xfrm>
            <a:custGeom>
              <a:avLst/>
              <a:gdLst/>
              <a:ahLst/>
              <a:cxnLst/>
              <a:rect l="l" t="t" r="r" b="b"/>
              <a:pathLst>
                <a:path w="661702" h="661702">
                  <a:moveTo>
                    <a:pt x="0" y="0"/>
                  </a:moveTo>
                  <a:lnTo>
                    <a:pt x="661702" y="0"/>
                  </a:lnTo>
                  <a:lnTo>
                    <a:pt x="661702" y="661702"/>
                  </a:lnTo>
                  <a:lnTo>
                    <a:pt x="0" y="661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781319" y="311801"/>
              <a:ext cx="2437027" cy="257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Task manager</a:t>
              </a:r>
            </a:p>
          </p:txBody>
        </p:sp>
      </p:grpSp>
      <p:pic>
        <p:nvPicPr>
          <p:cNvPr id="5" name="Picture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2952750" y="1930059"/>
            <a:ext cx="12382500" cy="6965156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457974" y="544513"/>
            <a:ext cx="7372051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925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DEMO FRONTEND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2045" y="9815123"/>
            <a:ext cx="2427115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Bogdan Bakić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604563" y="9645578"/>
            <a:ext cx="119660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Page | 06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4855" y="5663024"/>
            <a:ext cx="745776" cy="745776"/>
            <a:chOff x="0" y="0"/>
            <a:chExt cx="270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ln w="9525" cap="sq">
              <a:solidFill>
                <a:srgbClr val="1F20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93194" y="5663024"/>
            <a:ext cx="745776" cy="745776"/>
            <a:chOff x="0" y="0"/>
            <a:chExt cx="27093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ln w="9525" cap="sq">
              <a:solidFill>
                <a:srgbClr val="1F202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758420" y="5685098"/>
            <a:ext cx="745776" cy="745776"/>
            <a:chOff x="0" y="0"/>
            <a:chExt cx="270933" cy="2709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ln w="9525" cap="sq">
              <a:solidFill>
                <a:srgbClr val="1F20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52045" y="221910"/>
            <a:ext cx="2413759" cy="496277"/>
            <a:chOff x="0" y="0"/>
            <a:chExt cx="3218346" cy="6617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1702" cy="661702"/>
            </a:xfrm>
            <a:custGeom>
              <a:avLst/>
              <a:gdLst/>
              <a:ahLst/>
              <a:cxnLst/>
              <a:rect l="l" t="t" r="r" b="b"/>
              <a:pathLst>
                <a:path w="661702" h="661702">
                  <a:moveTo>
                    <a:pt x="0" y="0"/>
                  </a:moveTo>
                  <a:lnTo>
                    <a:pt x="661702" y="0"/>
                  </a:lnTo>
                  <a:lnTo>
                    <a:pt x="661702" y="661702"/>
                  </a:lnTo>
                  <a:lnTo>
                    <a:pt x="0" y="661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781319" y="311801"/>
              <a:ext cx="2437027" cy="257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Task manager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827968" y="5685098"/>
            <a:ext cx="745776" cy="745776"/>
            <a:chOff x="0" y="0"/>
            <a:chExt cx="270933" cy="27093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ln w="9525" cap="sq">
              <a:solidFill>
                <a:srgbClr val="1F20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9144000" y="221910"/>
            <a:ext cx="5778062" cy="5307764"/>
          </a:xfrm>
          <a:custGeom>
            <a:avLst/>
            <a:gdLst/>
            <a:ahLst/>
            <a:cxnLst/>
            <a:rect l="l" t="t" r="r" b="b"/>
            <a:pathLst>
              <a:path w="5778062" h="5307764">
                <a:moveTo>
                  <a:pt x="0" y="0"/>
                </a:moveTo>
                <a:lnTo>
                  <a:pt x="5778062" y="0"/>
                </a:lnTo>
                <a:lnTo>
                  <a:pt x="5778062" y="5307764"/>
                </a:lnTo>
                <a:lnTo>
                  <a:pt x="0" y="5307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860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39763" y="9636053"/>
            <a:ext cx="2427115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Bogdan Bakić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604563" y="9645578"/>
            <a:ext cx="119660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Page | 07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1089" y="1418228"/>
            <a:ext cx="5907051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925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OBJAŠNJENJE ARHITEKTURE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04680" y="5818448"/>
            <a:ext cx="745776" cy="396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04680" y="7109640"/>
            <a:ext cx="3435020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Ovo je ulazna tačka servera.</a:t>
            </a:r>
          </a:p>
          <a:p>
            <a:pPr algn="l">
              <a:lnSpc>
                <a:spcPts val="2100"/>
              </a:lnSpc>
            </a:pPr>
            <a:endParaRPr lang="en-US" sz="1500" b="1">
              <a:solidFill>
                <a:srgbClr val="1F2020"/>
              </a:solidFill>
              <a:latin typeface="Inter 2 Bold"/>
              <a:ea typeface="Inter 2 Bold"/>
              <a:cs typeface="Inter 2 Bold"/>
              <a:sym typeface="Inter 2 Bold"/>
            </a:endParaRPr>
          </a:p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Iskoristio sam ga kao „saobraćajca“ koji prihvata komande sa frontenda (npr. klik na dugme „Sačuvaj“) i odlučuje kojoj akciji da ih prosledi nakon što proveri ispravnost podataka.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93194" y="5840522"/>
            <a:ext cx="745776" cy="396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760919" y="5840522"/>
            <a:ext cx="745776" cy="396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84855" y="6559590"/>
            <a:ext cx="1999759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259" dirty="0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API CONTROLLER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484614" y="3489731"/>
            <a:ext cx="590705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spc="555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BACK END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27968" y="5840522"/>
            <a:ext cx="745776" cy="396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27968" y="7002374"/>
            <a:ext cx="3435020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Glavna veza između C# koda i baze podataka.</a:t>
            </a:r>
          </a:p>
          <a:p>
            <a:pPr algn="l">
              <a:lnSpc>
                <a:spcPts val="2100"/>
              </a:lnSpc>
            </a:pPr>
            <a:endParaRPr lang="en-US" sz="1500" b="1">
              <a:solidFill>
                <a:srgbClr val="1F2020"/>
              </a:solidFill>
              <a:latin typeface="Inter 2 Bold"/>
              <a:ea typeface="Inter 2 Bold"/>
              <a:cs typeface="Inter 2 Bold"/>
              <a:sym typeface="Inter 2 Bold"/>
            </a:endParaRPr>
          </a:p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Kroz njega sam definisao tabelu Tasks kao listu objekata. To mi je omogućilo da manipulišem podacima direktno kroz kod, bez potrebe za pisanjem kompleksnih SQL upita.</a:t>
            </a:r>
          </a:p>
          <a:p>
            <a:pPr algn="l">
              <a:lnSpc>
                <a:spcPts val="2100"/>
              </a:lnSpc>
            </a:pPr>
            <a:endParaRPr lang="en-US" sz="1500" b="1">
              <a:solidFill>
                <a:srgbClr val="1F2020"/>
              </a:solidFill>
              <a:latin typeface="Inter 2 Bold"/>
              <a:ea typeface="Inter 2 Bold"/>
              <a:cs typeface="Inter 2 Bold"/>
              <a:sym typeface="Inter 2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827968" y="6559590"/>
            <a:ext cx="155659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259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DB CONTEXT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78402" y="7002374"/>
            <a:ext cx="3435020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 Alat koji prevodi programski kod u jezik koji baza razume.</a:t>
            </a:r>
          </a:p>
          <a:p>
            <a:pPr algn="l">
              <a:lnSpc>
                <a:spcPts val="2100"/>
              </a:lnSpc>
            </a:pPr>
            <a:endParaRPr lang="en-US" sz="1500" b="1">
              <a:solidFill>
                <a:srgbClr val="1F2020"/>
              </a:solidFill>
              <a:latin typeface="Inter 2 Bold"/>
              <a:ea typeface="Inter 2 Bold"/>
              <a:cs typeface="Inter 2 Bold"/>
              <a:sym typeface="Inter 2 Bold"/>
            </a:endParaRPr>
          </a:p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Upotrebio sam ga kao „prevodioca“ koji moje C# komande automatski pretvara u SQL, čime sam ubrzao razvoj i eliminisao mogućnost grešaka pri kucanju upita.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838861" y="6574444"/>
            <a:ext cx="1059294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259" dirty="0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EF CORE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728836" y="7002374"/>
            <a:ext cx="3435020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 Krajnja destinacija gde se podaci trajno i bezbedno čuvaju.</a:t>
            </a:r>
          </a:p>
          <a:p>
            <a:pPr algn="l">
              <a:lnSpc>
                <a:spcPts val="2100"/>
              </a:lnSpc>
            </a:pPr>
            <a:endParaRPr lang="en-US" sz="1500" b="1">
              <a:solidFill>
                <a:srgbClr val="1F2020"/>
              </a:solidFill>
              <a:latin typeface="Inter 2 Bold"/>
              <a:ea typeface="Inter 2 Bold"/>
              <a:cs typeface="Inter 2 Bold"/>
              <a:sym typeface="Inter 2 Bold"/>
            </a:endParaRPr>
          </a:p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 Ovde se svi taskovi čuvaju u tabelama. Kada baza potvrdi upis, informacija se vraća nazad do korisnika na frontend kao potvrda o uspehu.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738808" y="6586298"/>
            <a:ext cx="1882192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259" dirty="0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SQL 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4855" y="5035121"/>
            <a:ext cx="745776" cy="745776"/>
            <a:chOff x="0" y="0"/>
            <a:chExt cx="270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ln w="9525" cap="sq">
              <a:solidFill>
                <a:srgbClr val="1F20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93194" y="5035121"/>
            <a:ext cx="745776" cy="745776"/>
            <a:chOff x="0" y="0"/>
            <a:chExt cx="27093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ln w="9525" cap="sq">
              <a:solidFill>
                <a:srgbClr val="1F202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758420" y="5057195"/>
            <a:ext cx="745776" cy="745776"/>
            <a:chOff x="0" y="0"/>
            <a:chExt cx="270933" cy="2709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ln w="9525" cap="sq">
              <a:solidFill>
                <a:srgbClr val="1F20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52045" y="221910"/>
            <a:ext cx="2413759" cy="496277"/>
            <a:chOff x="0" y="0"/>
            <a:chExt cx="3218346" cy="6617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1702" cy="661702"/>
            </a:xfrm>
            <a:custGeom>
              <a:avLst/>
              <a:gdLst/>
              <a:ahLst/>
              <a:cxnLst/>
              <a:rect l="l" t="t" r="r" b="b"/>
              <a:pathLst>
                <a:path w="661702" h="661702">
                  <a:moveTo>
                    <a:pt x="0" y="0"/>
                  </a:moveTo>
                  <a:lnTo>
                    <a:pt x="661702" y="0"/>
                  </a:lnTo>
                  <a:lnTo>
                    <a:pt x="661702" y="661702"/>
                  </a:lnTo>
                  <a:lnTo>
                    <a:pt x="0" y="661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781319" y="311801"/>
              <a:ext cx="2437027" cy="257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Task manager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827968" y="5057195"/>
            <a:ext cx="745776" cy="745776"/>
            <a:chOff x="0" y="0"/>
            <a:chExt cx="270933" cy="27093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ln w="9525" cap="sq">
              <a:solidFill>
                <a:srgbClr val="1F20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9144000" y="221910"/>
            <a:ext cx="6837488" cy="4261907"/>
          </a:xfrm>
          <a:custGeom>
            <a:avLst/>
            <a:gdLst/>
            <a:ahLst/>
            <a:cxnLst/>
            <a:rect l="l" t="t" r="r" b="b"/>
            <a:pathLst>
              <a:path w="6837488" h="4261907">
                <a:moveTo>
                  <a:pt x="0" y="0"/>
                </a:moveTo>
                <a:lnTo>
                  <a:pt x="6837488" y="0"/>
                </a:lnTo>
                <a:lnTo>
                  <a:pt x="6837488" y="4261908"/>
                </a:lnTo>
                <a:lnTo>
                  <a:pt x="0" y="4261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477" b="-3477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39763" y="9636053"/>
            <a:ext cx="2427115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Bogdan Bakić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604563" y="9645578"/>
            <a:ext cx="119660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Page | 08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1089" y="1418228"/>
            <a:ext cx="5907051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925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OBJAŠNJENJE ARHITEKTURE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04680" y="5190545"/>
            <a:ext cx="745776" cy="396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27108" y="6446900"/>
            <a:ext cx="3749013" cy="373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Osnovni gradivni blok korisničkog interfejsa koji se sastoji od HTML-a (izgled), CSS-a (stil) i TypeScript-a (logika).</a:t>
            </a:r>
          </a:p>
          <a:p>
            <a:pPr algn="l">
              <a:lnSpc>
                <a:spcPts val="2100"/>
              </a:lnSpc>
            </a:pPr>
            <a:endParaRPr lang="en-US" sz="1500" b="1">
              <a:solidFill>
                <a:srgbClr val="1F2020"/>
              </a:solidFill>
              <a:latin typeface="Inter 2 Bold"/>
              <a:ea typeface="Inter 2 Bold"/>
              <a:cs typeface="Inter 2 Bold"/>
              <a:sym typeface="Inter 2 Bold"/>
            </a:endParaRPr>
          </a:p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task-list: za pregledan prikaz svih zadataka,</a:t>
            </a:r>
          </a:p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add-or-update: kao višenamensku formu za unos i izmenu podataka,</a:t>
            </a:r>
          </a:p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delete-confirmation: dijalog kako bi se sprečilo slučajno brisanje.</a:t>
            </a:r>
          </a:p>
          <a:p>
            <a:pPr algn="l">
              <a:lnSpc>
                <a:spcPts val="2100"/>
              </a:lnSpc>
            </a:pPr>
            <a:endParaRPr lang="en-US" sz="1500" b="1">
              <a:solidFill>
                <a:srgbClr val="1F2020"/>
              </a:solidFill>
              <a:latin typeface="Inter 2 Bold"/>
              <a:ea typeface="Inter 2 Bold"/>
              <a:cs typeface="Inter 2 Bold"/>
              <a:sym typeface="Inter 2 Bold"/>
            </a:endParaRPr>
          </a:p>
          <a:p>
            <a:pPr algn="l">
              <a:lnSpc>
                <a:spcPts val="2100"/>
              </a:lnSpc>
            </a:pPr>
            <a:endParaRPr lang="en-US" sz="1500" b="1">
              <a:solidFill>
                <a:srgbClr val="1F2020"/>
              </a:solidFill>
              <a:latin typeface="Inter 2 Bold"/>
              <a:ea typeface="Inter 2 Bold"/>
              <a:cs typeface="Inter 2 Bold"/>
              <a:sym typeface="Inter 2 Bold"/>
            </a:endParaRPr>
          </a:p>
          <a:p>
            <a:pPr algn="l">
              <a:lnSpc>
                <a:spcPts val="2100"/>
              </a:lnSpc>
            </a:pPr>
            <a:endParaRPr lang="en-US" sz="1500" b="1">
              <a:solidFill>
                <a:srgbClr val="1F2020"/>
              </a:solidFill>
              <a:latin typeface="Inter 2 Bold"/>
              <a:ea typeface="Inter 2 Bold"/>
              <a:cs typeface="Inter 2 Bold"/>
              <a:sym typeface="Inter 2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793194" y="5212619"/>
            <a:ext cx="745776" cy="396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760919" y="5212619"/>
            <a:ext cx="745776" cy="396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7108" y="5996686"/>
            <a:ext cx="1697092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259" dirty="0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KOMPONENTA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484614" y="3489731"/>
            <a:ext cx="590705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spc="555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FRONT END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27968" y="5212619"/>
            <a:ext cx="745776" cy="396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08980" y="6446900"/>
            <a:ext cx="3435020" cy="3312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3"/>
              </a:lnSpc>
            </a:pPr>
            <a:r>
              <a:rPr lang="en-US" sz="158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 Pametan način upravljanja unosom podataka i validacijom u realnom vremenu.</a:t>
            </a:r>
          </a:p>
          <a:p>
            <a:pPr algn="l">
              <a:lnSpc>
                <a:spcPts val="2213"/>
              </a:lnSpc>
            </a:pPr>
            <a:endParaRPr lang="en-US" sz="1580" b="1">
              <a:solidFill>
                <a:srgbClr val="1F2020"/>
              </a:solidFill>
              <a:latin typeface="Inter 2 Bold"/>
              <a:ea typeface="Inter 2 Bold"/>
              <a:cs typeface="Inter 2 Bold"/>
              <a:sym typeface="Inter 2 Bold"/>
            </a:endParaRPr>
          </a:p>
          <a:p>
            <a:pPr algn="l">
              <a:lnSpc>
                <a:spcPts val="2213"/>
              </a:lnSpc>
            </a:pPr>
            <a:r>
              <a:rPr lang="en-US" sz="158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Implementirao sam reaktivne forme unutar add-or-update komponente. To mi je omogućilo da automatski onemogućim dugme "Sačuvaj" ako korisnik ostavi prazno polje ili unese neispravne podatke, čime je aplikacija postala otpornija na greške.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27968" y="5996686"/>
            <a:ext cx="2096832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259" dirty="0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REACTIVE FORMS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93194" y="6458028"/>
            <a:ext cx="3435020" cy="3312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3"/>
              </a:lnSpc>
            </a:pPr>
            <a:r>
              <a:rPr lang="en-US" sz="158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"Kurir" koji povezuje frontend sa backendom i deli podatke između komponenti.</a:t>
            </a:r>
          </a:p>
          <a:p>
            <a:pPr algn="l">
              <a:lnSpc>
                <a:spcPts val="2213"/>
              </a:lnSpc>
            </a:pPr>
            <a:endParaRPr lang="en-US" sz="1580" b="1">
              <a:solidFill>
                <a:srgbClr val="1F2020"/>
              </a:solidFill>
              <a:latin typeface="Inter 2 Bold"/>
              <a:ea typeface="Inter 2 Bold"/>
              <a:cs typeface="Inter 2 Bold"/>
              <a:sym typeface="Inter 2 Bold"/>
            </a:endParaRPr>
          </a:p>
          <a:p>
            <a:pPr algn="l">
              <a:lnSpc>
                <a:spcPts val="2213"/>
              </a:lnSpc>
            </a:pPr>
            <a:r>
              <a:rPr lang="en-US" sz="158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Kreirao sam centralizovani servis koji sadrži sve metode za komunikaciju sa bazom. Umesto da svaka komponenta sama šalje podatke, one se obraćaju servisu, što kod čini čistijim i lakšim za održavanje.</a:t>
            </a:r>
          </a:p>
          <a:p>
            <a:pPr algn="l">
              <a:lnSpc>
                <a:spcPts val="2213"/>
              </a:lnSpc>
            </a:pPr>
            <a:endParaRPr lang="en-US" sz="1580" b="1">
              <a:solidFill>
                <a:srgbClr val="1F2020"/>
              </a:solidFill>
              <a:latin typeface="Inter 2 Bold"/>
              <a:ea typeface="Inter 2 Bold"/>
              <a:cs typeface="Inter 2 Bold"/>
              <a:sym typeface="Inter 2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794443" y="5996686"/>
            <a:ext cx="106069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259" dirty="0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SERVICE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728836" y="6458028"/>
            <a:ext cx="3435020" cy="276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3"/>
              </a:lnSpc>
            </a:pPr>
            <a:r>
              <a:rPr lang="en-US" sz="158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Poslednji korak na frontendu – slanje podataka preko interneta.</a:t>
            </a:r>
          </a:p>
          <a:p>
            <a:pPr algn="l">
              <a:lnSpc>
                <a:spcPts val="2213"/>
              </a:lnSpc>
            </a:pPr>
            <a:endParaRPr lang="en-US" sz="1580" b="1">
              <a:solidFill>
                <a:srgbClr val="1F2020"/>
              </a:solidFill>
              <a:latin typeface="Inter 2 Bold"/>
              <a:ea typeface="Inter 2 Bold"/>
              <a:cs typeface="Inter 2 Bold"/>
              <a:sym typeface="Inter 2 Bold"/>
            </a:endParaRPr>
          </a:p>
          <a:p>
            <a:pPr algn="l">
              <a:lnSpc>
                <a:spcPts val="2213"/>
              </a:lnSpc>
            </a:pPr>
            <a:r>
              <a:rPr lang="en-US" sz="1580" b="1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 Koristeći HttpClient, podesio sam slanje JSON paketa ka API kontroleru. Svaki put kada korisnik klikne na akciju, aplikacija šalje precizan zahtev (GET, POST, PUT ili DELETE) i čeka potvrdu od servera kako bi osvežila prikaz.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728836" y="5996686"/>
            <a:ext cx="1815964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259" dirty="0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HTTP REQUEST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8008" y="3492244"/>
            <a:ext cx="3159981" cy="3159981"/>
            <a:chOff x="0" y="0"/>
            <a:chExt cx="4213308" cy="4213308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4213308" cy="4213308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2637998" y="6880135"/>
            <a:ext cx="8381375" cy="3406865"/>
            <a:chOff x="0" y="0"/>
            <a:chExt cx="11175167" cy="4542486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 t="5937" b="5937"/>
            <a:stretch>
              <a:fillRect/>
            </a:stretch>
          </p:blipFill>
          <p:spPr>
            <a:xfrm>
              <a:off x="0" y="0"/>
              <a:ext cx="11175167" cy="4542486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4458138" y="3492244"/>
            <a:ext cx="3159981" cy="3159981"/>
            <a:chOff x="0" y="0"/>
            <a:chExt cx="4213308" cy="4213308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/>
            <a:srcRect l="21909" r="21909"/>
            <a:stretch>
              <a:fillRect/>
            </a:stretch>
          </p:blipFill>
          <p:spPr>
            <a:xfrm>
              <a:off x="0" y="0"/>
              <a:ext cx="4213308" cy="4213308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7859392" y="3492244"/>
            <a:ext cx="3159981" cy="3159981"/>
            <a:chOff x="0" y="0"/>
            <a:chExt cx="4213308" cy="4213308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/>
            <a:srcRect l="8090" r="8090"/>
            <a:stretch>
              <a:fillRect/>
            </a:stretch>
          </p:blipFill>
          <p:spPr>
            <a:xfrm>
              <a:off x="0" y="0"/>
              <a:ext cx="4213308" cy="4213308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352045" y="221910"/>
            <a:ext cx="2413759" cy="496277"/>
            <a:chOff x="0" y="0"/>
            <a:chExt cx="3218346" cy="6617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1702" cy="661702"/>
            </a:xfrm>
            <a:custGeom>
              <a:avLst/>
              <a:gdLst/>
              <a:ahLst/>
              <a:cxnLst/>
              <a:rect l="l" t="t" r="r" b="b"/>
              <a:pathLst>
                <a:path w="661702" h="661702">
                  <a:moveTo>
                    <a:pt x="0" y="0"/>
                  </a:moveTo>
                  <a:lnTo>
                    <a:pt x="661702" y="0"/>
                  </a:lnTo>
                  <a:lnTo>
                    <a:pt x="661702" y="661702"/>
                  </a:lnTo>
                  <a:lnTo>
                    <a:pt x="0" y="661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781319" y="311801"/>
              <a:ext cx="2437027" cy="257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Task manager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604563" y="9645578"/>
            <a:ext cx="119660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Page | 09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58925" y="1823207"/>
            <a:ext cx="838132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925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IZAZOVI I NAUČENO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74783" y="1793362"/>
            <a:ext cx="3841904" cy="273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 b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Back-end Logika: Povezivanje svih delova sistema u funkcionalnu celinu i razumevanje protoka podataka bio je najzahtevniji deo procesa.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 b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Konfiguracija CORS-a: Rešavanje problema komunikacije između Angulara i API-ja (dozvole za pristup resursima).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 b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Angular Forme: Implementacija kompleksne validacije podataka na front-endu kako bi se osigurao ispravan unos pre slanja na server.</a:t>
            </a:r>
          </a:p>
          <a:p>
            <a:pPr algn="l">
              <a:lnSpc>
                <a:spcPts val="1819"/>
              </a:lnSpc>
              <a:spcBef>
                <a:spcPct val="0"/>
              </a:spcBef>
            </a:pPr>
            <a:endParaRPr lang="en-US" sz="1299" b="1">
              <a:solidFill>
                <a:srgbClr val="1F2020"/>
              </a:solidFill>
              <a:latin typeface="Inter 1 Bold"/>
              <a:ea typeface="Inter 1 Bold"/>
              <a:cs typeface="Inter 1 Bold"/>
              <a:sym typeface="Inter 1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474783" y="4706107"/>
            <a:ext cx="3841904" cy="2052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Debug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i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Dokumentacija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: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Svaki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problem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sam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rešavao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sistematičnim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"debug-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ovanjem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"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koda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i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detaljnim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istraživanjem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zvanične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dokumentacije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.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Iterativni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pristup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: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Umesto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rešavanja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svega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odjednom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,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fokusirao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sam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se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na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male,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testabilne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delove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koda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dok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ceo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modul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 ne </a:t>
            </a:r>
            <a:r>
              <a:rPr lang="en-US" sz="1299" b="1" dirty="0" err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proradi</a:t>
            </a:r>
            <a:r>
              <a:rPr lang="en-US" sz="1299" b="1" dirty="0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.</a:t>
            </a:r>
          </a:p>
          <a:p>
            <a:pPr algn="l">
              <a:lnSpc>
                <a:spcPts val="1819"/>
              </a:lnSpc>
              <a:spcBef>
                <a:spcPct val="0"/>
              </a:spcBef>
            </a:pPr>
            <a:endParaRPr lang="en-US" sz="1299" b="1" dirty="0">
              <a:solidFill>
                <a:srgbClr val="1F2020"/>
              </a:solidFill>
              <a:latin typeface="Inter 1 Bold"/>
              <a:ea typeface="Inter 1 Bold"/>
              <a:cs typeface="Inter 1 Bold"/>
              <a:sym typeface="Inter 1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474783" y="7021460"/>
            <a:ext cx="3841904" cy="274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EF Core (Entity Framework): Savladao sam rad sa bazom podataka bez direktnog pisanja SQL-a, koristeći C# objekte i migracije.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Arhitektura aplikacije: Razumeo sam važnost razdvajanja odgovornosti između front-enda i back-enda (Separation of Concerns).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Full-stack Workflow: Naučio sam kako se planira i realizuje kompletan put podatka — od klika korisnika do čuvanja u bazi.</a:t>
            </a:r>
          </a:p>
          <a:p>
            <a:pPr algn="l">
              <a:lnSpc>
                <a:spcPts val="1819"/>
              </a:lnSpc>
              <a:spcBef>
                <a:spcPct val="0"/>
              </a:spcBef>
            </a:pPr>
            <a:endParaRPr lang="en-US" sz="1299" b="1">
              <a:solidFill>
                <a:srgbClr val="1F202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39763" y="9636053"/>
            <a:ext cx="2427115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Bogdan Bakić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74782" y="1382517"/>
            <a:ext cx="2155617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259" dirty="0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NAJVEĆI IZAZOVI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74783" y="4397497"/>
            <a:ext cx="270033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259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REŠAVANJE PROBLEMA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85797" y="6639470"/>
            <a:ext cx="2144603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259" dirty="0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ŠTA SAM NAUČIO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2045" y="221910"/>
            <a:ext cx="2413759" cy="496277"/>
            <a:chOff x="0" y="0"/>
            <a:chExt cx="3218346" cy="6617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702" cy="661702"/>
            </a:xfrm>
            <a:custGeom>
              <a:avLst/>
              <a:gdLst/>
              <a:ahLst/>
              <a:cxnLst/>
              <a:rect l="l" t="t" r="r" b="b"/>
              <a:pathLst>
                <a:path w="661702" h="661702">
                  <a:moveTo>
                    <a:pt x="0" y="0"/>
                  </a:moveTo>
                  <a:lnTo>
                    <a:pt x="661702" y="0"/>
                  </a:lnTo>
                  <a:lnTo>
                    <a:pt x="661702" y="661702"/>
                  </a:lnTo>
                  <a:lnTo>
                    <a:pt x="0" y="661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781319" y="311801"/>
              <a:ext cx="2437027" cy="257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Task manager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7696781" y="1764444"/>
            <a:ext cx="3522424" cy="6424797"/>
          </a:xfrm>
          <a:custGeom>
            <a:avLst/>
            <a:gdLst/>
            <a:ahLst/>
            <a:cxnLst/>
            <a:rect l="l" t="t" r="r" b="b"/>
            <a:pathLst>
              <a:path w="3522424" h="6424797">
                <a:moveTo>
                  <a:pt x="0" y="0"/>
                </a:moveTo>
                <a:lnTo>
                  <a:pt x="3522424" y="0"/>
                </a:lnTo>
                <a:lnTo>
                  <a:pt x="3522424" y="6424797"/>
                </a:lnTo>
                <a:lnTo>
                  <a:pt x="0" y="6424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094" r="-4778" b="-5094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604563" y="9645578"/>
            <a:ext cx="119660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Page | 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0895" y="4113242"/>
            <a:ext cx="632407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925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DALJI RAZVOJ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860262"/>
            <a:ext cx="4284886" cy="186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Potpuni redizajn korisničkog interfejsa fokusiran na intuitivnost i modernu estetiku. Uvođenje Light/Dark modova i dinamičkih vizuelnih elemenata (progres barovi, animacije završetka zadataka) koji povećavaju angažovanost korisnika.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endParaRPr lang="en-US" sz="1500" b="1">
              <a:solidFill>
                <a:srgbClr val="1F2020"/>
              </a:solidFill>
              <a:latin typeface="Inter 1 Bold"/>
              <a:ea typeface="Inter 1 Bold"/>
              <a:cs typeface="Inter 1 Bold"/>
              <a:sym typeface="Inter 1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093150" y="1860262"/>
            <a:ext cx="3444826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Razvoj inteligentnog sistema za podsetnike koji šalje E-mail ili Push obaveštenja pre isteka roka. Korisnik može samostalno definisati prag upozorenja (npr. 30 minuta ili 24 sata ranije), čime se rizik od propuštenih rokova svodi na minimum.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endParaRPr lang="en-US" sz="1500" b="1">
              <a:solidFill>
                <a:srgbClr val="1F2020"/>
              </a:solidFill>
              <a:latin typeface="Inter 1 Bold"/>
              <a:ea typeface="Inter 1 Bold"/>
              <a:cs typeface="Inter 1 Bold"/>
              <a:sym typeface="Inter 1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52045" y="9815123"/>
            <a:ext cx="2427115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Bogdan Bakić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5602" y="1364401"/>
            <a:ext cx="228674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spc="295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UNAPREĐENJE UI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320635"/>
            <a:ext cx="4284886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Implementacija sigurnog logovanja koja omogućava korisnicima kreiranje ličnih profila. Ovo osigurava privatnost podataka i omogućava sinhronizaciju zadataka između različitih uređaja (telefon, desktop).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endParaRPr lang="en-US" sz="1500" b="1">
              <a:solidFill>
                <a:srgbClr val="1F2020"/>
              </a:solidFill>
              <a:latin typeface="Inter 1 Bold"/>
              <a:ea typeface="Inter 1 Bold"/>
              <a:cs typeface="Inter 1 Bold"/>
              <a:sym typeface="Inter 1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33398" y="5918045"/>
            <a:ext cx="331333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spc="295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SISTEM AUTENTIKACIJE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74523" y="5918045"/>
            <a:ext cx="2555415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spc="295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TASK SHARING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093150" y="6320635"/>
            <a:ext cx="4284886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1F2020"/>
                </a:solidFill>
                <a:latin typeface="Inter 1 Bold"/>
                <a:ea typeface="Inter 1 Bold"/>
                <a:cs typeface="Inter 1 Bold"/>
                <a:sym typeface="Inter 1 Bold"/>
              </a:rPr>
              <a:t>Uvođenje funkcionalnosti za timski rad. Korisnici će moći da dele liste zadataka ili pojedinačne taskove sa kolegama i prijateljima, uz definisanje nivoa dozvola, što aplikaciju transformiše u alat za saradnju.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endParaRPr lang="en-US" sz="1500" b="1">
              <a:solidFill>
                <a:srgbClr val="1F2020"/>
              </a:solidFill>
              <a:latin typeface="Inter 1 Bold"/>
              <a:ea typeface="Inter 1 Bold"/>
              <a:cs typeface="Inter 1 Bold"/>
              <a:sym typeface="Inter 1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093150" y="1364401"/>
            <a:ext cx="3178768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spc="295">
                <a:solidFill>
                  <a:srgbClr val="1F2020"/>
                </a:solidFill>
                <a:latin typeface="Inter 2 Bold"/>
                <a:ea typeface="Inter 2 Bold"/>
                <a:cs typeface="Inter 2 Bold"/>
                <a:sym typeface="Inter 2 Bold"/>
              </a:rPr>
              <a:t>NOTIFICATION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60" r="-176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86134" y="8137937"/>
            <a:ext cx="14377458" cy="1120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6516" b="1" spc="2619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PITANJA?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04563" y="9645578"/>
            <a:ext cx="1196609" cy="19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Page |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22623" y="401843"/>
            <a:ext cx="14377458" cy="1120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6516" b="1" spc="2619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HVALA NA PAŽNJI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967</Words>
  <Application>Microsoft Office PowerPoint</Application>
  <PresentationFormat>Custom</PresentationFormat>
  <Paragraphs>112</Paragraphs>
  <Slides>11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Inter 2 Bold</vt:lpstr>
      <vt:lpstr>Arial</vt:lpstr>
      <vt:lpstr>Open Sans</vt:lpstr>
      <vt:lpstr>Inter 1 Bold</vt:lpstr>
      <vt:lpstr>Calibri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Manager</dc:title>
  <cp:lastModifiedBy>Bogdan Bakic</cp:lastModifiedBy>
  <cp:revision>5</cp:revision>
  <dcterms:created xsi:type="dcterms:W3CDTF">2006-08-16T00:00:00Z</dcterms:created>
  <dcterms:modified xsi:type="dcterms:W3CDTF">2026-04-01T09:24:55Z</dcterms:modified>
  <dc:identifier>DAHFf1zVWK8</dc:identifier>
</cp:coreProperties>
</file>